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losource-hero-command-r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0"/>
            <a:ext cx="7114032" cy="6858000"/>
          </a:xfrm>
          <a:prstGeom prst="rect">
            <a:avLst/>
          </a:prstGeom>
        </p:spPr>
      </p:pic>
      <p:pic>
        <p:nvPicPr>
          <p:cNvPr id="3" name="Picture 2" descr="glosource-logo-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66928"/>
            <a:ext cx="1143000" cy="1143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1920240"/>
            <a:ext cx="4206240" cy="64008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Malgun Gothic"/>
              </a:rPr>
              <a:t>GloSource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697480"/>
            <a:ext cx="4297680" cy="100584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2100" b="1">
                <a:solidFill>
                  <a:srgbClr val="8F3A26"/>
                </a:solidFill>
                <a:latin typeface="Malgun Gothic"/>
              </a:rPr>
              <a:t>한국 공급사를 처음 찾는 해외 바이어에게</a:t>
            </a:r>
            <a:br/>
            <a:r>
              <a:t>“진짜 공장인지” 먼저 확인해주는 리서치 도구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172200"/>
            <a:ext cx="4389120" cy="32004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algun Gothic"/>
              </a:rPr>
              <a:t>Business Proposal · glosourceai.com · hello@glosourceai.com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498079" cy="59436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3000" b="1">
                <a:solidFill>
                  <a:srgbClr val="0D1B2A"/>
                </a:solidFill>
                <a:latin typeface="Malgun Gothic"/>
              </a:rPr>
              <a:t>검색 상위가 곧 공장은 아닙니다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7498079" cy="32004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algun Gothic"/>
              </a:rPr>
              <a:t>Buyer problem</a:t>
            </a:r>
          </a:p>
        </p:txBody>
      </p:sp>
      <p:pic>
        <p:nvPicPr>
          <p:cNvPr id="4" name="Picture 3" descr="risk-c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6766560" cy="3794760"/>
          </a:xfrm>
          <a:prstGeom prst="rect">
            <a:avLst/>
          </a:prstGeom>
        </p:spPr>
      </p:pic>
      <p:pic>
        <p:nvPicPr>
          <p:cNvPr id="5" name="Picture 4" descr="k-product-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79" y="960120"/>
            <a:ext cx="3886200" cy="4434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18120" y="5532120"/>
            <a:ext cx="3703320" cy="77724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800" b="1">
                <a:solidFill>
                  <a:srgbClr val="0D1B2A"/>
                </a:solidFill>
                <a:latin typeface="Malgun Gothic"/>
              </a:rPr>
              <a:t>바이어는 샘플비를 보내기 전</a:t>
            </a:r>
            <a:br/>
            <a:r>
              <a:t>제조사·인증·폐업 여부를 확인해야 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498079" cy="59436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3000" b="1">
                <a:solidFill>
                  <a:srgbClr val="0D1B2A"/>
                </a:solidFill>
                <a:latin typeface="Malgun Gothic"/>
              </a:rPr>
              <a:t>문제는 커지고 있습니다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7498079" cy="32004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algun Gothic"/>
              </a:rPr>
              <a:t>K-Beauty export demand is expanding, and small buyers are entering Korea for the first time.</a:t>
            </a:r>
          </a:p>
        </p:txBody>
      </p:sp>
      <p:pic>
        <p:nvPicPr>
          <p:cNvPr id="4" name="Picture 3" descr="k-wave-dem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502920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80760" y="1600200"/>
            <a:ext cx="1920240" cy="512064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2600" b="1">
                <a:solidFill>
                  <a:srgbClr val="8F3A26"/>
                </a:solidFill>
                <a:latin typeface="Malgun Gothic"/>
              </a:rPr>
              <a:t>$11.4B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80760" y="2112264"/>
            <a:ext cx="1920240" cy="347472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Malgun Gothic"/>
              </a:rPr>
              <a:t>2025 한국 화장품 수출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1600200"/>
            <a:ext cx="1920240" cy="512064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2600" b="1">
                <a:solidFill>
                  <a:srgbClr val="8F3A26"/>
                </a:solidFill>
                <a:latin typeface="Malgun Gothic"/>
              </a:rPr>
              <a:t>#2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2112264"/>
            <a:ext cx="1920240" cy="347472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Malgun Gothic"/>
              </a:rPr>
              <a:t>세계 화장품 수출 순위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3246120"/>
            <a:ext cx="1920240" cy="512064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2600" b="1">
                <a:solidFill>
                  <a:srgbClr val="8F3A26"/>
                </a:solidFill>
                <a:latin typeface="Malgun Gothic"/>
              </a:rPr>
              <a:t>69.8%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3758183"/>
            <a:ext cx="1920240" cy="347472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Malgun Gothic"/>
              </a:rPr>
              <a:t>중소기업 수출 비중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3246120"/>
            <a:ext cx="1920240" cy="512064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2600" b="1">
                <a:solidFill>
                  <a:srgbClr val="8F3A26"/>
                </a:solidFill>
                <a:latin typeface="Malgun Gothic"/>
              </a:rPr>
              <a:t>90초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3758183"/>
            <a:ext cx="1920240" cy="347472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Malgun Gothic"/>
              </a:rPr>
              <a:t>검증 shortlist 목표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4983480"/>
            <a:ext cx="4800600" cy="86868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900" b="1">
                <a:solidFill>
                  <a:srgbClr val="0D1B2A"/>
                </a:solidFill>
                <a:latin typeface="Malgun Gothic"/>
              </a:rPr>
              <a:t>대형 유통사는 이미 공급망이 있습니다.</a:t>
            </a:r>
            <a:br/>
            <a:r>
              <a:t>GloSource는 처음 한국을 찾는 소규모 바이어를 위한 도구입니다.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498079" cy="59436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3000" b="1">
                <a:solidFill>
                  <a:srgbClr val="0D1B2A"/>
                </a:solidFill>
                <a:latin typeface="Malgun Gothic"/>
              </a:rPr>
              <a:t>AI 추천이 아니라, AI + 정부 원장 대조입니다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7498079" cy="32004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algun Gothic"/>
              </a:rPr>
              <a:t>Discovery and verification are separated.</a:t>
            </a:r>
          </a:p>
        </p:txBody>
      </p:sp>
      <p:pic>
        <p:nvPicPr>
          <p:cNvPr id="4" name="Picture 3" descr="three-st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1088136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498079" cy="59436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3000" b="1">
                <a:solidFill>
                  <a:srgbClr val="0D1B2A"/>
                </a:solidFill>
                <a:latin typeface="Malgun Gothic"/>
              </a:rPr>
              <a:t>고객은 제품 조건만 입력합니다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7498079" cy="32004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algun Gothic"/>
              </a:rPr>
              <a:t>Then GloSource turns it into a verified shortlist.</a:t>
            </a:r>
          </a:p>
        </p:txBody>
      </p:sp>
      <p:pic>
        <p:nvPicPr>
          <p:cNvPr id="4" name="Picture 3" descr="workflow-product-in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3611880" cy="3840480"/>
          </a:xfrm>
          <a:prstGeom prst="rect">
            <a:avLst/>
          </a:prstGeom>
        </p:spPr>
      </p:pic>
      <p:pic>
        <p:nvPicPr>
          <p:cNvPr id="5" name="Picture 4" descr="workflow-supplier-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234440"/>
            <a:ext cx="3611880" cy="3840480"/>
          </a:xfrm>
          <a:prstGeom prst="rect">
            <a:avLst/>
          </a:prstGeom>
        </p:spPr>
      </p:pic>
      <p:pic>
        <p:nvPicPr>
          <p:cNvPr id="6" name="Picture 5" descr="workflow-rfq-mat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1234440"/>
            <a:ext cx="3611880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417320" y="5394960"/>
            <a:ext cx="1920240" cy="420624"/>
          </a:xfrm>
          <a:prstGeom prst="roundRect">
            <a:avLst/>
          </a:prstGeom>
          <a:solidFill>
            <a:srgbClr val="8F3A26"/>
          </a:solidFill>
          <a:ln>
            <a:solidFill>
              <a:srgbClr val="8F3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90472" y="5422392"/>
            <a:ext cx="1773936" cy="329184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1. Brief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5394960"/>
            <a:ext cx="1920240" cy="420624"/>
          </a:xfrm>
          <a:prstGeom prst="roundRect">
            <a:avLst/>
          </a:prstGeom>
          <a:solidFill>
            <a:srgbClr val="0F7A55"/>
          </a:solidFill>
          <a:ln>
            <a:solidFill>
              <a:srgbClr val="0F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93792" y="5422392"/>
            <a:ext cx="1773936" cy="329184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2. Verify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5394960"/>
            <a:ext cx="1920240" cy="420624"/>
          </a:xfrm>
          <a:prstGeom prst="roundRect">
            <a:avLst/>
          </a:prstGeom>
          <a:solidFill>
            <a:srgbClr val="8F3A26"/>
          </a:solidFill>
          <a:ln>
            <a:solidFill>
              <a:srgbClr val="8F3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97112" y="5422392"/>
            <a:ext cx="1773936" cy="329184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3. RFQ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498079" cy="59436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3000" b="1">
                <a:solidFill>
                  <a:srgbClr val="0D1B2A"/>
                </a:solidFill>
                <a:latin typeface="Malgun Gothic"/>
              </a:rPr>
              <a:t>검증의 기준은 정부 원장입니다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7498079" cy="32004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algun Gothic"/>
              </a:rPr>
              <a:t>No badge without registry evidence.</a:t>
            </a:r>
          </a:p>
        </p:txBody>
      </p:sp>
      <p:pic>
        <p:nvPicPr>
          <p:cNvPr id="4" name="Picture 3" descr="registry-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34440"/>
            <a:ext cx="6675120" cy="4297680"/>
          </a:xfrm>
          <a:prstGeom prst="rect">
            <a:avLst/>
          </a:prstGeom>
        </p:spPr>
      </p:pic>
      <p:pic>
        <p:nvPicPr>
          <p:cNvPr id="5" name="Picture 4" descr="glosource-sourcing-worksp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005840"/>
            <a:ext cx="4069080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26679" y="5577840"/>
            <a:ext cx="3794760" cy="475488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Malgun Gothic"/>
              </a:rPr>
              <a:t>검증 가능 / 위험 / 미검증을 분리 표시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498079" cy="59436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3000" b="1">
                <a:solidFill>
                  <a:srgbClr val="0D1B2A"/>
                </a:solidFill>
                <a:latin typeface="Malgun Gothic"/>
              </a:rPr>
              <a:t>결과물은 바로 의사결정에 쓰는 리포트입니다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7498079" cy="32004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algun Gothic"/>
              </a:rPr>
              <a:t>Shortlist, evidence, red flags, RFQ draft.</a:t>
            </a:r>
          </a:p>
        </p:txBody>
      </p:sp>
      <p:pic>
        <p:nvPicPr>
          <p:cNvPr id="4" name="Picture 3" descr="glosource-enterprise-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5577840" cy="45262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29400" y="1325880"/>
            <a:ext cx="4023360" cy="420624"/>
          </a:xfrm>
          <a:prstGeom prst="roundRect">
            <a:avLst/>
          </a:prstGeom>
          <a:solidFill>
            <a:srgbClr val="0F7A55"/>
          </a:solidFill>
          <a:ln>
            <a:solidFill>
              <a:srgbClr val="0F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02552" y="1353312"/>
            <a:ext cx="3877056" cy="329184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제조사 vs 중개상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2075688"/>
            <a:ext cx="4023360" cy="420624"/>
          </a:xfrm>
          <a:prstGeom prst="roundRect">
            <a:avLst/>
          </a:prstGeom>
          <a:solidFill>
            <a:srgbClr val="8F3A26"/>
          </a:solidFill>
          <a:ln>
            <a:solidFill>
              <a:srgbClr val="8F3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02552" y="2103120"/>
            <a:ext cx="3877056" cy="329184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CGMP / HACCP 대조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2825496"/>
            <a:ext cx="4023360" cy="420624"/>
          </a:xfrm>
          <a:prstGeom prst="roundRect">
            <a:avLst/>
          </a:prstGeom>
          <a:solidFill>
            <a:srgbClr val="B42318"/>
          </a:solidFill>
          <a:ln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02552" y="2852927"/>
            <a:ext cx="3877056" cy="329184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국세청 영업상태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3575304"/>
            <a:ext cx="4023360" cy="420624"/>
          </a:xfrm>
          <a:prstGeom prst="roundRect">
            <a:avLst/>
          </a:prstGeom>
          <a:solidFill>
            <a:srgbClr val="B76E00"/>
          </a:solidFill>
          <a:ln>
            <a:solidFill>
              <a:srgbClr val="B7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02552" y="3602736"/>
            <a:ext cx="3877056" cy="329184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MOQ·리드타임 비교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29400" y="4325112"/>
            <a:ext cx="4023360" cy="420624"/>
          </a:xfrm>
          <a:prstGeom prst="round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02552" y="4352544"/>
            <a:ext cx="3877056" cy="329184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영문 RFQ 초안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5486400"/>
            <a:ext cx="4389120" cy="68580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800" b="1">
                <a:solidFill>
                  <a:srgbClr val="0D1B2A"/>
                </a:solidFill>
                <a:latin typeface="Malgun Gothic"/>
              </a:rPr>
              <a:t>고객이 직접 한국어 원장을 뒤지는 시간을 줄이고,</a:t>
            </a:r>
            <a:br/>
            <a:r>
              <a:t>위험한 후보를 먼저 걸러냅니다.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498079" cy="59436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3000" b="1">
                <a:solidFill>
                  <a:srgbClr val="0D1B2A"/>
                </a:solidFill>
                <a:latin typeface="Malgun Gothic"/>
              </a:rPr>
              <a:t>하지 않는 것을 분명히 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7498079" cy="32004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algun Gothic"/>
              </a:rPr>
              <a:t>Trust comes from boundaries.</a:t>
            </a:r>
          </a:p>
        </p:txBody>
      </p:sp>
      <p:pic>
        <p:nvPicPr>
          <p:cNvPr id="4" name="Picture 3" descr="k-supplier-pro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5074920" cy="4434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1463040"/>
            <a:ext cx="2926080" cy="32004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800" b="1">
                <a:solidFill>
                  <a:srgbClr val="0D1B2A"/>
                </a:solidFill>
                <a:latin typeface="Malgun Gothic"/>
              </a:rPr>
              <a:t>소싱 대행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1417320"/>
            <a:ext cx="1325880" cy="420624"/>
          </a:xfrm>
          <a:prstGeom prst="roundRect">
            <a:avLst/>
          </a:prstGeom>
          <a:solidFill>
            <a:srgbClr val="B42318"/>
          </a:solidFill>
          <a:ln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37192" y="1444752"/>
            <a:ext cx="1179576" cy="329184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하지 않음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331720"/>
            <a:ext cx="2926080" cy="32004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800" b="1">
                <a:solidFill>
                  <a:srgbClr val="0D1B2A"/>
                </a:solidFill>
                <a:latin typeface="Malgun Gothic"/>
              </a:rPr>
              <a:t>공장 감사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64040" y="2286000"/>
            <a:ext cx="1325880" cy="420624"/>
          </a:xfrm>
          <a:prstGeom prst="roundRect">
            <a:avLst/>
          </a:prstGeom>
          <a:solidFill>
            <a:srgbClr val="B42318"/>
          </a:solidFill>
          <a:ln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37192" y="2313432"/>
            <a:ext cx="1179576" cy="329184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하지 않음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200400"/>
            <a:ext cx="2926080" cy="32004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800" b="1">
                <a:solidFill>
                  <a:srgbClr val="0D1B2A"/>
                </a:solidFill>
                <a:latin typeface="Malgun Gothic"/>
              </a:rPr>
              <a:t>물류·거래 중개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64040" y="3154680"/>
            <a:ext cx="1325880" cy="420624"/>
          </a:xfrm>
          <a:prstGeom prst="roundRect">
            <a:avLst/>
          </a:prstGeom>
          <a:solidFill>
            <a:srgbClr val="B42318"/>
          </a:solidFill>
          <a:ln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37192" y="3182112"/>
            <a:ext cx="1179576" cy="329184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하지 않음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069079"/>
            <a:ext cx="2926080" cy="32004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800" b="1">
                <a:solidFill>
                  <a:srgbClr val="0D1B2A"/>
                </a:solidFill>
                <a:latin typeface="Malgun Gothic"/>
              </a:rPr>
              <a:t>검증 불가를 검증됨 표시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64040" y="4023359"/>
            <a:ext cx="1325880" cy="420624"/>
          </a:xfrm>
          <a:prstGeom prst="roundRect">
            <a:avLst/>
          </a:prstGeom>
          <a:solidFill>
            <a:srgbClr val="B42318"/>
          </a:solidFill>
          <a:ln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37192" y="4050791"/>
            <a:ext cx="1179576" cy="329184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하지 않음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5303520"/>
            <a:ext cx="4389120" cy="68580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2200" b="1">
                <a:solidFill>
                  <a:srgbClr val="8F3A26"/>
                </a:solidFill>
                <a:latin typeface="Malgun Gothic"/>
              </a:rPr>
              <a:t>우리는 공급사를 팔지 않습니다.</a:t>
            </a:r>
            <a:br/>
            <a:r>
              <a:t>확인 가능한 사실을 팝니다.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498079" cy="59436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3000" b="1">
                <a:solidFill>
                  <a:srgbClr val="0D1B2A"/>
                </a:solidFill>
                <a:latin typeface="Malgun Gothic"/>
              </a:rPr>
              <a:t>처음 고객에게는 무료 파일럿부터 제안합니다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7498079" cy="32004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algun Gothic"/>
              </a:rPr>
              <a:t>No card. No fake promise. One honest feedback loop.</a:t>
            </a:r>
          </a:p>
        </p:txBody>
      </p:sp>
      <p:pic>
        <p:nvPicPr>
          <p:cNvPr id="4" name="Picture 3" descr="pilot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7315200" cy="4251960"/>
          </a:xfrm>
          <a:prstGeom prst="rect">
            <a:avLst/>
          </a:prstGeom>
        </p:spPr>
      </p:pic>
      <p:pic>
        <p:nvPicPr>
          <p:cNvPr id="5" name="Picture 4" descr="k-hero-produc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143000"/>
            <a:ext cx="3246120" cy="3566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58200" y="4983480"/>
            <a:ext cx="2834640" cy="82296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2200" b="1">
                <a:solidFill>
                  <a:srgbClr val="0D1B2A"/>
                </a:solidFill>
                <a:latin typeface="Malgun Gothic"/>
              </a:rPr>
              <a:t>무료 리포트 1건</a:t>
            </a:r>
            <a:br/>
            <a:r>
              <a:t>→ 솔직한 피드백 1회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498079" cy="59436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3000" b="1">
                <a:solidFill>
                  <a:srgbClr val="0D1B2A"/>
                </a:solidFill>
                <a:latin typeface="Malgun Gothic"/>
              </a:rPr>
              <a:t>유료 전환은 검증 후에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7498079" cy="32004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algun Gothic"/>
              </a:rPr>
              <a:t>Simple subscription, already wired through Polar.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645920"/>
            <a:ext cx="233172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2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65960"/>
            <a:ext cx="1874519" cy="32004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1800" b="1">
                <a:solidFill>
                  <a:srgbClr val="0D1B2A"/>
                </a:solidFill>
                <a:latin typeface="Malgun Gothic"/>
              </a:rPr>
              <a:t>Free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06040"/>
            <a:ext cx="1874519" cy="566928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3100" b="1">
                <a:solidFill>
                  <a:srgbClr val="8F3A26"/>
                </a:solidFill>
                <a:latin typeface="Malgun Gothic"/>
              </a:rPr>
              <a:t>$0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401568"/>
            <a:ext cx="1874519" cy="32004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1500" b="0">
                <a:solidFill>
                  <a:srgbClr val="64748B"/>
                </a:solidFill>
                <a:latin typeface="Malgun Gothic"/>
              </a:rPr>
              <a:t>10 searches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950208"/>
            <a:ext cx="1874519" cy="22860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Malgun Gothic"/>
              </a:rPr>
              <a:t>per month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645920"/>
            <a:ext cx="233172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2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1965960"/>
            <a:ext cx="1874519" cy="32004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1800" b="1">
                <a:solidFill>
                  <a:srgbClr val="0D1B2A"/>
                </a:solidFill>
                <a:latin typeface="Malgun Gothic"/>
              </a:rPr>
              <a:t>Starter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606040"/>
            <a:ext cx="1874519" cy="566928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3100" b="1">
                <a:solidFill>
                  <a:srgbClr val="8F3A26"/>
                </a:solidFill>
                <a:latin typeface="Malgun Gothic"/>
              </a:rPr>
              <a:t>$39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401568"/>
            <a:ext cx="1874519" cy="32004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1500" b="0">
                <a:solidFill>
                  <a:srgbClr val="64748B"/>
                </a:solidFill>
                <a:latin typeface="Malgun Gothic"/>
              </a:rPr>
              <a:t>40 searches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950208"/>
            <a:ext cx="1874519" cy="22860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Malgun Gothic"/>
              </a:rPr>
              <a:t>per month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1645920"/>
            <a:ext cx="233172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2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1965960"/>
            <a:ext cx="1874519" cy="32004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1800" b="1">
                <a:solidFill>
                  <a:srgbClr val="0D1B2A"/>
                </a:solidFill>
                <a:latin typeface="Malgun Gothic"/>
              </a:rPr>
              <a:t>Pro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606040"/>
            <a:ext cx="1874519" cy="566928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3100" b="1">
                <a:solidFill>
                  <a:srgbClr val="8F3A26"/>
                </a:solidFill>
                <a:latin typeface="Malgun Gothic"/>
              </a:rPr>
              <a:t>$99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401568"/>
            <a:ext cx="1874519" cy="32004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1500" b="0">
                <a:solidFill>
                  <a:srgbClr val="64748B"/>
                </a:solidFill>
                <a:latin typeface="Malgun Gothic"/>
              </a:rPr>
              <a:t>100 searches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950208"/>
            <a:ext cx="1874519" cy="22860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Malgun Gothic"/>
              </a:rPr>
              <a:t>per month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81160" y="1645920"/>
            <a:ext cx="233172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2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1965960"/>
            <a:ext cx="1874519" cy="32004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1800" b="1">
                <a:solidFill>
                  <a:srgbClr val="0D1B2A"/>
                </a:solidFill>
                <a:latin typeface="Malgun Gothic"/>
              </a:rPr>
              <a:t>Business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2606040"/>
            <a:ext cx="1874519" cy="566928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3100" b="1">
                <a:solidFill>
                  <a:srgbClr val="8F3A26"/>
                </a:solidFill>
                <a:latin typeface="Malgun Gothic"/>
              </a:rPr>
              <a:t>$249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3401568"/>
            <a:ext cx="1874519" cy="32004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1500" b="0">
                <a:solidFill>
                  <a:srgbClr val="64748B"/>
                </a:solidFill>
                <a:latin typeface="Malgun Gothic"/>
              </a:rPr>
              <a:t>300 searches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3950208"/>
            <a:ext cx="1874519" cy="22860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Malgun Gothic"/>
              </a:rPr>
              <a:t>per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5623560"/>
            <a:ext cx="9966960" cy="41148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1800" b="1">
                <a:solidFill>
                  <a:srgbClr val="0D1B2A"/>
                </a:solidFill>
                <a:latin typeface="Malgun Gothic"/>
              </a:rPr>
              <a:t>현재 고객 레퍼런스는 없습니다. 그래서 먼저 무료 파일럿으로 검증합니다.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498079" cy="59436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3000" b="1">
                <a:solidFill>
                  <a:srgbClr val="0D1B2A"/>
                </a:solidFill>
                <a:latin typeface="Malgun Gothic"/>
              </a:rPr>
              <a:t>기관·플랫폼에는 검증 레이어를 제공합니다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7498079" cy="32004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algun Gothic"/>
              </a:rPr>
              <a:t>For trade agencies, accelerators, B2B platforms.</a:t>
            </a:r>
          </a:p>
        </p:txBody>
      </p:sp>
      <p:pic>
        <p:nvPicPr>
          <p:cNvPr id="4" name="Picture 3" descr="glosource-hero-command-r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4846320" cy="44348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989320" y="1417320"/>
            <a:ext cx="2148840" cy="420624"/>
          </a:xfrm>
          <a:prstGeom prst="roundRect">
            <a:avLst/>
          </a:prstGeom>
          <a:solidFill>
            <a:srgbClr val="0F7A55"/>
          </a:solidFill>
          <a:ln>
            <a:solidFill>
              <a:srgbClr val="0F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62472" y="1444752"/>
            <a:ext cx="2002536" cy="329184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공동 마케팅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9320" y="1984248"/>
            <a:ext cx="2331720" cy="50292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600" b="1">
                <a:solidFill>
                  <a:srgbClr val="0D1B2A"/>
                </a:solidFill>
                <a:latin typeface="Malgun Gothic"/>
              </a:rPr>
              <a:t>한국 공급사 검증 콘텐츠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1417320"/>
            <a:ext cx="2148840" cy="420624"/>
          </a:xfrm>
          <a:prstGeom prst="roundRect">
            <a:avLst/>
          </a:prstGeom>
          <a:solidFill>
            <a:srgbClr val="8F3A26"/>
          </a:solidFill>
          <a:ln>
            <a:solidFill>
              <a:srgbClr val="8F3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59952" y="1444752"/>
            <a:ext cx="2002536" cy="329184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회원사 제공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1984248"/>
            <a:ext cx="2331720" cy="50292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600" b="1">
                <a:solidFill>
                  <a:srgbClr val="0D1B2A"/>
                </a:solidFill>
                <a:latin typeface="Malgun Gothic"/>
              </a:rPr>
              <a:t>기관 단위 라이선스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3291839"/>
            <a:ext cx="2148840" cy="420624"/>
          </a:xfrm>
          <a:prstGeom prst="roundRect">
            <a:avLst/>
          </a:prstGeom>
          <a:solidFill>
            <a:srgbClr val="0F7A55"/>
          </a:solidFill>
          <a:ln>
            <a:solidFill>
              <a:srgbClr val="0F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62472" y="3319271"/>
            <a:ext cx="2002536" cy="329184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데이터 협력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3858768"/>
            <a:ext cx="2331720" cy="50292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600" b="1">
                <a:solidFill>
                  <a:srgbClr val="0D1B2A"/>
                </a:solidFill>
                <a:latin typeface="Malgun Gothic"/>
              </a:rPr>
              <a:t>원장 대조 결과 피드백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3291839"/>
            <a:ext cx="2148840" cy="420624"/>
          </a:xfrm>
          <a:prstGeom prst="roundRect">
            <a:avLst/>
          </a:prstGeom>
          <a:solidFill>
            <a:srgbClr val="8F3A26"/>
          </a:solidFill>
          <a:ln>
            <a:solidFill>
              <a:srgbClr val="8F3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59952" y="3319271"/>
            <a:ext cx="2002536" cy="329184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플랫폼 임베드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3858768"/>
            <a:ext cx="2331720" cy="50292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600" b="1">
                <a:solidFill>
                  <a:srgbClr val="0D1B2A"/>
                </a:solidFill>
                <a:latin typeface="Malgun Gothic"/>
              </a:rPr>
              <a:t>API/위젯 연동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5440680"/>
            <a:ext cx="4754880" cy="45720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800" b="1">
                <a:solidFill>
                  <a:srgbClr val="0D1B2A"/>
                </a:solidFill>
                <a:latin typeface="Malgun Gothic"/>
              </a:rPr>
              <a:t>첫 단계는 대규모 계약이 아니라 소수 회원사 무료 파일럿입니다.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losource-logo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658368"/>
            <a:ext cx="18288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34440" y="2743200"/>
            <a:ext cx="9784080" cy="59436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3400" b="1">
                <a:solidFill>
                  <a:srgbClr val="0D1B2A"/>
                </a:solidFill>
                <a:latin typeface="Malgun Gothic"/>
              </a:rPr>
              <a:t>무료 공급사 검증 파일럿을 시작하세요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3566160"/>
            <a:ext cx="7955279" cy="82296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2200" b="1">
                <a:solidFill>
                  <a:srgbClr val="8F3A26"/>
                </a:solidFill>
                <a:latin typeface="Malgun Gothic"/>
              </a:rPr>
              <a:t>제품 카테고리 · MOQ · 인증 요건을 보내주시면</a:t>
            </a:r>
            <a:br/>
            <a:r>
              <a:t>검증 shortlist와 RFQ 초안을 먼저 드립니다.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4983480"/>
            <a:ext cx="5303520" cy="50292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2800" b="1">
                <a:solidFill>
                  <a:srgbClr val="0F7A55"/>
                </a:solidFill>
                <a:latin typeface="Malgun Gothic"/>
              </a:rPr>
              <a:t>hello@glosourceai.com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60520" y="5577840"/>
            <a:ext cx="3840480" cy="32004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1800" b="0">
                <a:solidFill>
                  <a:srgbClr val="64748B"/>
                </a:solidFill>
                <a:latin typeface="Malgun Gothic"/>
              </a:rPr>
              <a:t>glosourceai.com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