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D1B2A"/>
                </a:solidFill>
              </a:rPr>
              <a:t>GloSource AI</a:t>
            </a:r>
          </a:p>
          <a:p>
            <a:r>
              <a:rPr sz="1800">
                <a:solidFill>
                  <a:srgbClr val="8F3A26"/>
                </a:solidFill>
              </a:rPr>
              <a:t>해외 바이어가 한국 공급사를 찾을 때, 그것이 진짜 공장인지 정부 원장으로 대조한다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1. 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</a:rPr>
              <a:t>GloSource AI</a:t>
            </a:r>
          </a:p>
          <a:p>
            <a:r>
              <a:rPr sz="1300" b="1">
                <a:solidFill>
                  <a:srgbClr val="8F3A26"/>
                </a:solidFill>
              </a:rPr>
              <a:t>해외 B2B 바이어가 한국 공급사 후보를 90초 안에 찾고,</a:t>
            </a:r>
          </a:p>
          <a:p>
            <a:r>
              <a:rPr sz="1300" b="1">
                <a:solidFill>
                  <a:srgbClr val="8F3A26"/>
                </a:solidFill>
              </a:rPr>
              <a:t>그 후보가 정부 원장에 실존하는 제조사인지 즉시 대조해 주는 리서치 도구.</a:t>
            </a:r>
          </a:p>
          <a:p>
            <a:r>
              <a:rPr sz="1400">
                <a:solidFill>
                  <a:srgbClr val="334155"/>
                </a:solidFill>
              </a:rPr>
              <a:t>이 라운드의 한 문장</a:t>
            </a:r>
          </a:p>
          <a:p>
            <a:r>
              <a:rPr sz="1300" b="1">
                <a:solidFill>
                  <a:srgbClr val="8F3A26"/>
                </a:solidFill>
              </a:rPr>
              <a:t>기술은 작동하고 검증됐다. 시장 검증은 이제 시작한다. 이 라운드는 정확히 그것을 증명하기 위한 것이다.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154680"/>
          <a:ext cx="107899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서비스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GloSource AI — glosourceai.com (라이브)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김무빈 (John Kim)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미설립 (예비창업 / 현재 타사 재직 중)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제품 라이브 · 유료고객 0 · 매출 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2026-07-13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2. Problem — "이게 진짜 공장인가, 중개상인가"를 알 수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해외 바이어가 한국 공급사를 검색하면, 상위 결과의 상당수가 공장이 아니다.</a:t>
            </a:r>
          </a:p>
          <a:p>
            <a:r>
              <a:rPr sz="1400">
                <a:solidFill>
                  <a:srgbClr val="334155"/>
                </a:solidFill>
              </a:rPr>
              <a:t>• 실증 1 — 광고와 원장의 불일치: 큐레이션 과정에서, 업계 최저 수준 MOQ 300개를 광고하던 한 업체는 식약처 제조업 등록이 존재하지 않았다. → 배지 부여 거부.</a:t>
            </a:r>
          </a:p>
          <a:p>
            <a:r>
              <a:rPr sz="1400">
                <a:solidFill>
                  <a:srgbClr val="334155"/>
                </a:solidFill>
              </a:rPr>
              <a:t>• 실증 2 — 브랜드를 공장으로 오인: 다른 업체는 화장품책임판매(브랜드/유통)만 등록. 공장이 아니다. 화장품 원장은 화장품제조와 화장품책임판매를 구분하는데, 해외 바이어는 이 구분을 알지 못한다.</a:t>
            </a:r>
          </a:p>
          <a:p>
            <a:r>
              <a:rPr sz="1400">
                <a:solidFill>
                  <a:srgbClr val="334155"/>
                </a:solidFill>
              </a:rPr>
              <a:t>• 실증 3 — 검색 상위 = 에이전시: 영어권 검색 상위 다수가 소싱 에이전시(남의 공장을 재판매).</a:t>
            </a:r>
          </a:p>
          <a:p>
            <a:r>
              <a:rPr sz="1400">
                <a:solidFill>
                  <a:srgbClr val="334155"/>
                </a:solidFill>
              </a:rPr>
              <a:t>• 실증 4 — 폐업 리스크: 웹사이트는 살아 있지만 사업자는 폐업 상태인 경우를 웹만 봐서는 알 수 없다.</a:t>
            </a:r>
          </a:p>
          <a:p>
            <a:r>
              <a:rPr sz="1400">
                <a:solidFill>
                  <a:srgbClr val="334155"/>
                </a:solidFill>
              </a:rPr>
              <a:t>바이어가 치르는 비용: 잘못된 상대에게 샘플비·금형비·선금을 보내고, 마진은 중간에서 잘리고, 리드타임은 통제 불능이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3. Why Now — 한국 공급사를 "처음" 찾는 소규모 해외 바이어가 구조적으로 급증 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시장이 커지는 게 아니라, 시장의 구성이 우리 쪽으로 바뀌고 있다.</a:t>
            </a:r>
          </a:p>
          <a:p>
            <a:r>
              <a:rPr sz="1400">
                <a:solidFill>
                  <a:srgbClr val="334155"/>
                </a:solidFill>
              </a:rPr>
              <a:t>해석 (과장 없이)</a:t>
            </a:r>
          </a:p>
          <a:p>
            <a:r>
              <a:rPr sz="1400">
                <a:solidFill>
                  <a:srgbClr val="334155"/>
                </a:solidFill>
              </a:rPr>
              <a:t>• 수출을 끌고 가는 주체가 대기업 → 중소·인디 브랜드로 이동했다 (55% → 69.8%).</a:t>
            </a:r>
          </a:p>
          <a:p>
            <a:r>
              <a:rPr sz="1400">
                <a:solidFill>
                  <a:srgbClr val="334155"/>
                </a:solidFill>
              </a:rPr>
              <a:t>• 중소기업 수출이 늘었다는 것은 곧 거래 건당 규모가 작고 상대가 낯선 거래가 늘었다는 뜻이다.</a:t>
            </a:r>
          </a:p>
          <a:p>
            <a:r>
              <a:rPr sz="1400">
                <a:solidFill>
                  <a:srgbClr val="334155"/>
                </a:solidFill>
              </a:rPr>
              <a:t>• 한국 공급망을 이미 가진 대형사는 우리 고객이 아니다. 우리 고객은 지금 처음 한국을 찾는 쪽이고, 그 층이 정확히 커지고 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15468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수치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출처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2025 한국 화장품 수출액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114억 달러 (+12.3%, 역대 최대)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식약처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세계 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2위 (1위 프랑스 243억, 3위 미국 108억)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식약처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화장품 무역흑자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101억 달러 (첫 100억 돌파)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식약처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2025 화장품 생산액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17조 9,382억원 (역대 최고)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식약처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중소기업 수출 비중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69.8% (2025 상반기 / 5년 전 약 55%)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관련 통계 보도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4. Solution — AI 발굴 → 정부 원장 대조, 2단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경쟁 제품은 AI가 뱉은 목록을 그대로 보여준다. 우리는 그 목록을 정부 원장에 대조한다.</a:t>
            </a:r>
          </a:p>
          <a:p>
            <a:r>
              <a:rPr sz="1400">
                <a:solidFill>
                  <a:srgbClr val="334155"/>
                </a:solidFill>
              </a:rPr>
              <a:t>화면 흐름</a:t>
            </a:r>
          </a:p>
          <a:p>
            <a:r>
              <a:rPr sz="1400">
                <a:solidFill>
                  <a:srgbClr val="334155"/>
                </a:solidFill>
              </a:rPr>
              <a:t>• 바이어가 영어로 요구사항 입력 (카테고리 / MOQ / 인증 / 리드타임)</a:t>
            </a:r>
          </a:p>
          <a:p>
            <a:r>
              <a:rPr sz="1400">
                <a:solidFill>
                  <a:srgbClr val="334155"/>
                </a:solidFill>
              </a:rPr>
              <a:t>• 1단 — 발굴: AI(웹 그라운딩)가 공급사 후보를 찾아온다. 여기까지는 누구나 한다.</a:t>
            </a:r>
          </a:p>
          <a:p>
            <a:r>
              <a:rPr sz="1400">
                <a:solidFill>
                  <a:srgbClr val="334155"/>
                </a:solidFill>
              </a:rPr>
              <a:t>• 2단 — 대조 (차별점의 본체): 각 후보를 정부 원장에 사업자번호로 매칭한다.</a:t>
            </a:r>
          </a:p>
          <a:p>
            <a:r>
              <a:rPr sz="1400">
                <a:solidFill>
                  <a:srgbClr val="334155"/>
                </a:solidFill>
              </a:rPr>
              <a:t>• 제조업 등록이 있는가? (화장품제조 vs 화장품책임판매)</a:t>
            </a:r>
          </a:p>
          <a:p>
            <a:r>
              <a:rPr sz="1400">
                <a:solidFill>
                  <a:srgbClr val="334155"/>
                </a:solidFill>
              </a:rPr>
              <a:t>• GMP·HACCP 인증이 원장에 있는가?</a:t>
            </a:r>
          </a:p>
          <a:p>
            <a:r>
              <a:rPr sz="1400">
                <a:solidFill>
                  <a:srgbClr val="334155"/>
                </a:solidFill>
              </a:rPr>
              <a:t>• 국세청 실시간 조회 — 계속사업자인가, 폐업인가?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5. Product — 이미 작동한다 (라이브)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슬라이드웨어가 아니다. 지금 접속하면 돌아간다.</a:t>
            </a:r>
          </a:p>
          <a:p>
            <a:r>
              <a:rPr sz="1400">
                <a:solidFill>
                  <a:srgbClr val="334155"/>
                </a:solidFill>
              </a:rPr>
              <a:t>적재된 정부 대조 원장</a:t>
            </a:r>
          </a:p>
          <a:p>
            <a:r>
              <a:rPr sz="1400">
                <a:solidFill>
                  <a:srgbClr val="334155"/>
                </a:solidFill>
              </a:rPr>
              <a:t>큐레이션된 검증 공급사 DB (프로덕션 실적재)</a:t>
            </a:r>
          </a:p>
          <a:p>
            <a:r>
              <a:rPr sz="1400">
                <a:solidFill>
                  <a:srgbClr val="334155"/>
                </a:solidFill>
              </a:rPr>
              <a:t>기타 작동 기능: 공급사 URL 생존 검증 · 다국어(EN/KO) · 결제 인프라(Polar) 연동 완료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862072"/>
          <a:ext cx="107899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원장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적재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대조 내용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식약처 화장품 등록업체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32,109건 (그중 화장품제조 4,120건)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제조업 허가 + 사업자번호 + 공장 주소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식약처 CGMP 적합업체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176건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GMP 인증 (사업자번호 매칭)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HACCP 인증 식품제조사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40,906건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식품 안전 인증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의료기기 제조/수입업체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적재됨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제조 vs 수입 판별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건강기능식품 업소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적재됨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의약외품 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적재됨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6. Moat — 왜 따라하기 어려운가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해자는 AI가 아니다. AI는 누구나 붙인다. 해자는 대조 계층과, 그 계층을 정직하게 운영하는 규율이다.</a:t>
            </a:r>
          </a:p>
          <a:p>
            <a:r>
              <a:rPr sz="1400">
                <a:solidFill>
                  <a:srgbClr val="334155"/>
                </a:solidFill>
              </a:rPr>
              <a:t>(a) 6종 원장 통합·정규화·매칭 파이프라인</a:t>
            </a:r>
          </a:p>
          <a:p>
            <a:r>
              <a:rPr sz="1400">
                <a:solidFill>
                  <a:srgbClr val="334155"/>
                </a:solidFill>
              </a:rPr>
              <a:t>• 정부 원장은 서로 다른 스키마·표기·갱신주기를 가진다. 통합·정규화·중복제거가 실제 작업량이다.</a:t>
            </a:r>
          </a:p>
          <a:p>
            <a:r>
              <a:rPr sz="1400">
                <a:solidFill>
                  <a:srgbClr val="334155"/>
                </a:solidFill>
              </a:rPr>
              <a:t>• 경쟁자가 "AI 소싱"을 만드는 데는 며칠, 원장 계층을 만드는 데는 그보다 훨씬 오래 걸린다.</a:t>
            </a:r>
          </a:p>
          <a:p>
            <a:r>
              <a:rPr sz="1400">
                <a:solidFill>
                  <a:srgbClr val="334155"/>
                </a:solidFill>
              </a:rPr>
              <a:t>(b) 회사명이 아닌 — 사업자등록번호 기반 정밀 매칭</a:t>
            </a:r>
          </a:p>
          <a:p>
            <a:r>
              <a:rPr sz="1400">
                <a:solidFill>
                  <a:srgbClr val="334155"/>
                </a:solidFill>
              </a:rPr>
              <a:t>• 회사명 문자열 매칭은 동명이인·표기흔들림·영문 음차로 무너진다.</a:t>
            </a:r>
          </a:p>
          <a:p>
            <a:r>
              <a:rPr sz="1400">
                <a:solidFill>
                  <a:srgbClr val="334155"/>
                </a:solidFill>
              </a:rPr>
              <a:t>• 우리는 사업자등록번호로 원장을 잠근다. CGMP 176건과 화장품 32,109건이 같은 키로 조인된다는 것이 핵심.</a:t>
            </a:r>
          </a:p>
          <a:p>
            <a:r>
              <a:rPr sz="1400">
                <a:solidFill>
                  <a:srgbClr val="334155"/>
                </a:solidFill>
              </a:rPr>
              <a:t>(c) 데이터 정직성 규율 자체가 신뢰 자산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7. Business Model — 구독 (설정 완료·과금 가능 상태)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결제는 이미 붙어 있다. 아직 아무도 결제하지 않았을 뿐이다.</a:t>
            </a:r>
          </a:p>
          <a:p>
            <a:r>
              <a:rPr sz="1400">
                <a:solidFill>
                  <a:srgbClr val="334155"/>
                </a:solidFill>
              </a:rPr>
              <a:t>• 익명 체험 5회 → 가입 시 10회 → 유료 전환 퍼널</a:t>
            </a:r>
          </a:p>
          <a:p>
            <a:r>
              <a:rPr sz="1400">
                <a:solidFill>
                  <a:srgbClr val="334155"/>
                </a:solidFill>
              </a:rPr>
              <a:t>• 결제: Polar (Merchant of Record) — 판매자 대행 구조. 사업자등록 없이 해외 구독 결제 수취 가능. 예비창업 단계에서 해외 매출을 즉시 받을 수 있는 구조를 이미 확보.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9464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플랜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월 검색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Free (가입)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10회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$39/월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40회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$99/월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100회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$249/월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300회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별도 협의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무제한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8. Market — TAM / SAM / SOM (계산 근거 전면 공개)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"글로벌 소싱 시장 XX조" 같은 숫자는 쓰지 않는다. 출처 있는 수치 하나에서 논리적으로 도출하고, 가정과 오차 밴드를 그대로 노출한다.</a:t>
            </a:r>
          </a:p>
          <a:p>
            <a:r>
              <a:rPr sz="1400">
                <a:solidFill>
                  <a:srgbClr val="334155"/>
                </a:solidFill>
              </a:rPr>
              <a:t>앵커 (유일한 출처 있는 수치)</a:t>
            </a:r>
          </a:p>
          <a:p>
            <a:r>
              <a:rPr sz="1400">
                <a:solidFill>
                  <a:srgbClr val="334155"/>
                </a:solidFill>
              </a:rPr>
              <a:t>• 2025 한국 화장품 수출 114억 달러 (식약처) × 중소기업 비중 69.8% = 약 79.6억 달러 = 중소기업발 한국 화장품 수출액</a:t>
            </a:r>
          </a:p>
          <a:p>
            <a:r>
              <a:rPr sz="1400">
                <a:solidFill>
                  <a:srgbClr val="334155"/>
                </a:solidFill>
              </a:rPr>
              <a:t>TAM — 한국 화장품을 소싱하는 전 세계 B2B 바이어의 연간 구독 지출 가능액</a:t>
            </a:r>
          </a:p>
          <a:p>
            <a:r>
              <a:rPr sz="1300" b="1">
                <a:solidFill>
                  <a:srgbClr val="8F3A26"/>
                </a:solidFill>
              </a:rPr>
              <a:t>가정 민감도 (정직하게 밴드로 제시)</a:t>
            </a:r>
          </a:p>
          <a:p>
            <a:r>
              <a:rPr sz="1300" b="1">
                <a:solidFill>
                  <a:srgbClr val="8F3A26"/>
                </a:solidFill>
              </a:rPr>
              <a:t>- 바이어당 연 수입 $100K 가정 → 79,600 바이어 → TAM $94.5M</a:t>
            </a:r>
          </a:p>
          <a:p>
            <a:r>
              <a:rPr sz="1300" b="1">
                <a:solidFill>
                  <a:srgbClr val="8F3A26"/>
                </a:solidFill>
              </a:rPr>
              <a:t>- 바이어당 연 수입 $500K 가정 → 15,900 바이어 → TAM $18.9M</a:t>
            </a:r>
          </a:p>
          <a:p>
            <a:r>
              <a:rPr sz="1300" b="1">
                <a:solidFill>
                  <a:srgbClr val="8F3A26"/>
                </a:solidFill>
              </a:rPr>
              <a:t>- → TAM 밴드 = $19M ~ $95M. 이 폭을 좁히는 것이 고객 인터뷰의 1차 목적이다.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032504"/>
          <a:ext cx="10789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값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중소기업발 수출액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$11.4B × 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$7.96B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÷ 바이어당 연 수입액 【가정 A: $200,000】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$7.96B ÷ $200K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약 39,800 바이어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× Pro $99/월 × 12개월 【가정 B】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39,800 × $1,188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≈ $47.3M / 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9. Traction — 정직하게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유료고객 0, 매출 0. 우리는 아직 시장을 증명하지 못했다. 증명된 것은 기술이다.</a:t>
            </a:r>
          </a:p>
          <a:p>
            <a:r>
              <a:rPr sz="1400">
                <a:solidFill>
                  <a:srgbClr val="334155"/>
                </a:solidFill>
              </a:rPr>
              <a:t>이 슬라이드가 이 IR의 신뢰도를 결정한다.</a:t>
            </a:r>
          </a:p>
          <a:p>
            <a:r>
              <a:rPr sz="1400">
                <a:solidFill>
                  <a:srgbClr val="334155"/>
                </a:solidFill>
              </a:rPr>
              <a:t>• 트랙션 0을 포장하는 IR은 실사 첫날에 무너진다.</a:t>
            </a:r>
          </a:p>
          <a:p>
            <a:r>
              <a:rPr sz="1400">
                <a:solidFill>
                  <a:srgbClr val="334155"/>
                </a:solidFill>
              </a:rPr>
              <a:t>• 우리가 파는 것은 "고객이 있다"가 아니라 "고객을 만들 준비가 기술적으로 끝났다"이다.</a:t>
            </a:r>
          </a:p>
          <a:p>
            <a:r>
              <a:rPr sz="1400">
                <a:solidFill>
                  <a:srgbClr val="334155"/>
                </a:solidFill>
              </a:rPr>
              <a:t>• 남은 위험은 단 하나로 압축된다: "이걸 돈 내고 쓸 사람이 있는가." 이 라운드는 그 질문 하나를 산다.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154680"/>
          <a:ext cx="107899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근거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✅ 검증됨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제품 라이브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작동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GET /en HTTP 200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✅ 검증됨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정부 레지스트리 교차검증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실동작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6종 원장 적재 + 국세청 실시간 API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✅ 검증됨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원장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실적재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식약처 32,109 / CGMP 176 / HACCP 40,906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✅ 검증됨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큐레이션 공급사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실적재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26곳 (사업자번호 보유 16)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✅ 검증됨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결제 인프라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연동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Polar (MoR), 과금 가능 상태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✅ 검증됨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엔지니어링 규율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상시 가동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회귀 테스트 34건 + 자동 배포 게이트(빌드·테스트 통과 시에만 승격)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10. GTM — 첫 100명을 어떻게 얻을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우리에겐 채널 실적이 없다. 그래서 채널을 "믿는" 게 아니라 "실험"으로 설계한다.</a:t>
            </a:r>
          </a:p>
          <a:p>
            <a:r>
              <a:rPr sz="1400">
                <a:solidFill>
                  <a:srgbClr val="334155"/>
                </a:solidFill>
              </a:rPr>
              <a:t>전제: 리드 접촉 0 / 고객 인터뷰 0 → 모든 항목은 가설이며, 4~12주 안에 반증 가능하도록 지표를 붙였다.</a:t>
            </a:r>
          </a:p>
          <a:p>
            <a:r>
              <a:rPr sz="1400">
                <a:solidFill>
                  <a:srgbClr val="334155"/>
                </a:solidFill>
              </a:rPr>
              <a:t>퍼널 목표 (실적 아님 · 검증 대상 가설)</a:t>
            </a:r>
          </a:p>
          <a:p>
            <a:r>
              <a:rPr sz="1400">
                <a:solidFill>
                  <a:srgbClr val="334155"/>
                </a:solidFill>
              </a:rPr>
              <a:t>```</a:t>
            </a:r>
          </a:p>
          <a:p>
            <a:r>
              <a:rPr sz="1400">
                <a:solidFill>
                  <a:srgbClr val="334155"/>
                </a:solidFill>
              </a:rPr>
              <a:t>익명 체험(5회) → 가입(10회) → 유료 전환</a:t>
            </a:r>
          </a:p>
          <a:p>
            <a:r>
              <a:rPr sz="1400">
                <a:solidFill>
                  <a:srgbClr val="334155"/>
                </a:solidFill>
              </a:rPr>
              <a:t>검증할 핵심 지표: 활성화(첫 검색 → 리포트 내보내기) · 무료→유료 전환율 · 4주 리텐션 · CAC</a:t>
            </a:r>
          </a:p>
          <a:p>
            <a:r>
              <a:rPr sz="1400">
                <a:solidFill>
                  <a:srgbClr val="334155"/>
                </a:solidFill>
              </a:rPr>
              <a:t>```</a:t>
            </a:r>
          </a:p>
          <a:p>
            <a:r>
              <a:rPr sz="1400">
                <a:solidFill>
                  <a:srgbClr val="334155"/>
                </a:solidFill>
              </a:rPr>
              <a:t>첫 100명 경로 (가설): 콜드 아웃바운드로 고객 인터뷰 30건 확보 → 통증·지불의사 언어 확정 → 그 언어로 콘텐츠/랜딩 교정 → 유기적 유입 + 아웃바운드 병행으로 첫 유료 100명.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032504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채널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가설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1차 측정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반증 조건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콜드 아웃바운드 (ICP 리스트: 인디 뷰티 창업자 · FBA 셀러 · 소규모 수입사)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"한국 공장 찾다 데인 경험"은 즉각적 통증이라 회신이 온다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회신율 · 데모 요청률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회신율 &lt; 2%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콘텐츠/SEO (영문)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우리 Problem 슬라이드의 실증(MOQ 300 광고 vs 제조등록 없음)이 그 자체로 최고의 콘텐츠 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영문 소싱 키워드 유입 · 익명 체험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12주 내 유의미 유입 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소셜 (LinkedIn / X / Threads)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검증 실패 사례 공개가 신뢰 브랜드를 만든다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팔로우 → 가입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가입 전환 &lt; 0.5%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커뮤니티 (인디 뷰티·FBA 셀러 포럼)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바이어는 이미 서로에게 공급사를 묻고 있다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유기적 언급 · 리퍼럴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언급 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제품 자체 (익명 체험 5회)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검증 배지를 한 번 보면 가치가 즉시 이해된다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익명 체험 → 가입 → 유료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체험→가입 &lt; 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11. Competition — 유형별 (실명 단정 없음)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우리는 "AI로 찾아준다"로 경쟁하지 않는다. "정부 원장으로 대조해준다"로 경쟁한다.</a:t>
            </a:r>
          </a:p>
          <a:p>
            <a:r>
              <a:rPr sz="1400">
                <a:solidFill>
                  <a:srgbClr val="334155"/>
                </a:solidFill>
              </a:rPr>
              <a:t>우리가 인정하는 것: 이 시장에 진입장벽이 되는 자본·규제는 없다. 우리의 방어선은 대조 계층의 깊이 + 정직성 규율의 지속이다.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276856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하는 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GloSource 대비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AI 소싱 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LLM이 공급사 목록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AI 출력을 그대로 노출. 그 회사가 실존 제조사인지 대조하지 않음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우리는 그 목록을 정부 원장에 사업자번호로 대조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B2B 디렉토리 / 마켓플레이스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공급사가 스스로 등록·자기신고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셀프 신고 데이터. 등록업체가 곧 검증된 제조사는 아님. 에이전시가 공장으로 섞임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우리는 자기신고를 믿지 않고 원장을 믿는다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소싱 에이전시 / 무역상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사람이 대신 소싱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고비용 · 불투명 · 이해상충(마진이 중간에 있음). 확장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우리는 중개하지 않는다 → 이해상충 없음. 구독 $39~$249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직접 검색 (구글·전시회)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무료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검색 상위에 에이전시가 섞임. 제조/유통 구분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90초 · 화장품제조 vs 화장품책임판매 구분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GloSource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AI 발굴 → 정부 원장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K-Fashion 등 정부 원장이 없는 카테고리는 검증 불가(명시함)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12. Team — 1인이다. 숨기지 않는다.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팀은 1명이다. 그 1명이 여기까지 왔다는 것이 이 라운드의 유일한 실행 증거다.</a:t>
            </a:r>
          </a:p>
          <a:p>
            <a:r>
              <a:rPr sz="1400">
                <a:solidFill>
                  <a:srgbClr val="334155"/>
                </a:solidFill>
              </a:rPr>
              <a:t>현재 구성</a:t>
            </a:r>
          </a:p>
          <a:p>
            <a:r>
              <a:rPr sz="1400">
                <a:solidFill>
                  <a:srgbClr val="334155"/>
                </a:solidFill>
              </a:rPr>
              <a:t>1인이 만든 것 (검증 가능)</a:t>
            </a:r>
          </a:p>
          <a:p>
            <a:r>
              <a:rPr sz="1400">
                <a:solidFill>
                  <a:srgbClr val="334155"/>
                </a:solidFill>
              </a:rPr>
              <a:t>• 정부 레지스트리 6종 통합 + 국세청 실시간 API 연동</a:t>
            </a:r>
          </a:p>
          <a:p>
            <a:r>
              <a:rPr sz="1400">
                <a:solidFill>
                  <a:srgbClr val="334155"/>
                </a:solidFill>
              </a:rPr>
              <a:t>• 프로덕션 라이브 (Next.js 15 · TypeScript · Vercel · Neon/PostgreSQL · Drizzle · NextAuth · Gemini · Polar 결제 · Resend · Upstash)</a:t>
            </a:r>
          </a:p>
          <a:p>
            <a:r>
              <a:rPr sz="1400">
                <a:solidFill>
                  <a:srgbClr val="334155"/>
                </a:solidFill>
              </a:rPr>
              <a:t>• 회귀 테스트 34건 + 자동 배포 게이트 (빌드·테스트 통과 시에만 master 승격 → 배포)</a:t>
            </a:r>
          </a:p>
          <a:p>
            <a:r>
              <a:rPr sz="1400">
                <a:solidFill>
                  <a:srgbClr val="334155"/>
                </a:solidFill>
              </a:rPr>
              <a:t>• 데이터 "정직성 불변식" 테스트 — 근거 없는 인증 주장·조작된 점수를 코드가 차단</a:t>
            </a:r>
          </a:p>
          <a:p>
            <a:r>
              <a:rPr sz="1400">
                <a:solidFill>
                  <a:srgbClr val="334155"/>
                </a:solidFill>
              </a:rPr>
              <a:t>• 큐레이션 공급사 26곳 원장 대조 완료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032504"/>
          <a:ext cx="107899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인원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대표 (개발 · 기획 · 데이터 · 운영 · 배포 전부)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1명 — 김무빈 (John Kim)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그 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없음 (자문·멘토·협력기관 미확보)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13. Financials — 가정 명시 추정치 (실적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아래 표는 실적이 아니라 가설이다. 이 라운드의 목적이 바로 이 가설을 사실로 바꾸거나 반증하는 것이다.</a:t>
            </a:r>
          </a:p>
          <a:p>
            <a:r>
              <a:rPr sz="1400">
                <a:solidFill>
                  <a:srgbClr val="334155"/>
                </a:solidFill>
              </a:rPr>
              <a:t>명시된 가정</a:t>
            </a:r>
          </a:p>
          <a:p>
            <a:r>
              <a:rPr sz="1400">
                <a:solidFill>
                  <a:srgbClr val="334155"/>
                </a:solidFill>
              </a:rPr>
              <a:t>3개년 매출 추정 (가설)</a:t>
            </a:r>
          </a:p>
          <a:p>
            <a:r>
              <a:rPr sz="1400">
                <a:solidFill>
                  <a:srgbClr val="334155"/>
                </a:solidFill>
              </a:rPr>
              <a:t>손익분기 조건 (구조적으로만 제시)</a:t>
            </a:r>
          </a:p>
          <a:p>
            <a:r>
              <a:rPr sz="1400">
                <a:solidFill>
                  <a:srgbClr val="334155"/>
                </a:solidFill>
              </a:rPr>
              <a:t>• 1인 운영 + 인프라 원가 기준 → 유료 고객 수십 명 수준에서 인프라 원가는 커버된다.</a:t>
            </a:r>
          </a:p>
          <a:p>
            <a:r>
              <a:rPr sz="1400">
                <a:solidFill>
                  <a:srgbClr val="334155"/>
                </a:solidFill>
              </a:rPr>
              <a:t>• 실질 손익분기는 인건비(채용 규모)에 전적으로 종속되므로, 라운드 금액 확정 전에는 계산하지 않는다. → 【금액 미정】</a:t>
            </a:r>
          </a:p>
          <a:p>
            <a:r>
              <a:rPr sz="1300" b="1">
                <a:solidFill>
                  <a:srgbClr val="8F3A26"/>
                </a:solidFill>
              </a:rPr>
              <a:t>정직한 주석: Y1 목표 30명조차 현재 아무 데이터로도 뒷받침되지 않는다 (리드 접촉 0, 인터뷰 0). 이 표를 신뢰의 근거로 제시하지 않는다. 이 표는 우리가 무엇을 측정할 것인지에 대한 선언이다.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739896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근거 / 상태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A. 혼합 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$79/월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Starter($39) 다수 + Pro($99) 일부 가정. 미검증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B. 무료 → 유료 전환율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업계 통상 밴드 내 가정. 미검증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C. 월 이탈률(churn)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초기 SaaS 가정. 미검증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D. 결제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Polar (MoR) 수수료 차감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구조는 확정, 볼륨은 미검증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E. 인프라 원가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Vercel · Neon · Gemini · Upstash · Resend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사용량 비례 (현 사용량 극소)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14. The Ask — 【금액 미정】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우리는 성장을 사려는 게 아니다. 우리는 "이걸 돈 내고 쓸 사람이 있는가"에 대한 답을 사려는 것이다.</a:t>
            </a:r>
          </a:p>
          <a:p>
            <a:r>
              <a:rPr sz="1300" b="1">
                <a:solidFill>
                  <a:srgbClr val="8F3A26"/>
                </a:solidFill>
              </a:rPr>
              <a:t>금액은 라운드 성격(엔젤 / 예비창업 지원금 / 시드)과 채용 규모 확정 후 기입한다.</a:t>
            </a:r>
          </a:p>
          <a:p>
            <a:r>
              <a:rPr sz="1300" b="1">
                <a:solidFill>
                  <a:srgbClr val="8F3A26"/>
                </a:solidFill>
              </a:rPr>
              <a:t>근거 없는 금액을 먼저 적지 않는다.</a:t>
            </a:r>
          </a:p>
          <a:p>
            <a:r>
              <a:rPr sz="1300" b="1">
                <a:solidFill>
                  <a:srgbClr val="8F3A26"/>
                </a:solidFill>
              </a:rPr>
              <a:t>M4(리텐션)가 이 사업의 진짜 급소다. "한 번 공급사를 찾으면 끝"이라면 구독이 성립하지 않는다. 우리는 이 위험을 알고 있고, 이 라운드는 그것을 증명이 아니라 검증하러 간다.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862072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비중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내용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① 시장 검증 · GTM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고객 인터뷰 30건, 콜드 아웃바운드, 채널 실험 5종, 그로스 1명 채용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② 제품 · 데이터 확장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원장 확장(K-Food·의료기기·건기식 활성화), 사업자번호 매칭 정밀도, 데이터/백엔드 1명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③ 운영 · 인프라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Vercel·Neon·Gemini·Polar·Resend 사용량 증가분, 모니터링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④ 법인화 · 법무 · 컴플라이언스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법인 설립, 겸직/직무발명 정리, 상표 출원, 데이터·면책 약관 정비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15. Risks &amp; Mitigation — 정직하게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핵심 메시지: 아래 4개 리스크 중 어느 하나도 "해결됐다"고 말하지 않는다.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84248"/>
          <a:ext cx="107899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심각도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정직한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완화 계획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PMF 미검증 — 지불 의사를 아무도 확인해준 적 없다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🔴 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유료 0 · 매출 0 · 인터뷰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이 라운드의 존재 이유. M1~M4로 12주 내 판정. 반증되면 피벗 또는 중단을 선언한다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리텐션 구조 위험 — "한 번 찾으면 끝"이면 구독이 안 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🔴 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미검증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반복 사용 훅 필요: 신규 공급사 알림 · 폐업/휴업 변동 모니터링(국세청 실시간 API가 이미 있음) · 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1인 팀 — 버스 팩터 1. VC가 가장 먼저 지적할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🟠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사실. 팀원 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자금 확보 즉시 GTM 1명 + 데이터/백엔드 1명 채용. 자동 배포 게이트·테스트 34건으로 1인 리스크를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재직 중 창업(겸직)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🟠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현재 타사 재직 중. 법인·사업자등록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① 취업규칙상 겸업금지 조항 검토 ② 직무발명 귀속 사전 정리(현 직무와 무관함 문서화) ③ 겸직 동의서 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공공 API 의존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🟡 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국세청·식약처·HACCP 원장에 의존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원장은 스냅샷 적재(실시간 의존 축소), 국세청만 실시간. API 정책 변경 시 캐시 폴백. 단일 원장 장애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검증 불가 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🟡 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K-Fashion 3건 — 한국에 의류 제조 정부 원장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숨기지 않고 "검증 불가"로 표기. 검증 가능한 카테고리로 집중, 대체 근거(수출입 실적 등) 연구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16. 부록 — 투자자가 반드시 물을 질문 10개 &amp; 준비된 답변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F3A26"/>
                </a:solidFill>
              </a:rPr>
              <a:t>이 섹션이 실전에서 가장 유용하다. 아래 질문에 얼버무리면 딜은 끝난다.</a:t>
            </a:r>
          </a:p>
          <a:p>
            <a:r>
              <a:rPr sz="1400">
                <a:solidFill>
                  <a:srgbClr val="334155"/>
                </a:solidFill>
              </a:rPr>
              <a:t>Q1. 고객이 0명인데 왜 지금 투자해야 하나?</a:t>
            </a:r>
          </a:p>
          <a:p>
            <a:r>
              <a:rPr sz="1300" b="1">
                <a:solidFill>
                  <a:srgbClr val="8F3A26"/>
                </a:solidFill>
              </a:rPr>
              <a:t>투자하지 않아도 됩니다. 그게 정직한 답입니다.</a:t>
            </a:r>
          </a:p>
          <a:p>
            <a:r>
              <a:rPr sz="1300" b="1">
                <a:solidFill>
                  <a:srgbClr val="8F3A26"/>
                </a:solidFill>
              </a:rPr>
              <a:t>트랙션 0 단계에서 시드 VC를 설득하는 건 어렵고, 저는 그걸 알고 있습니다.</a:t>
            </a:r>
          </a:p>
          <a:p>
            <a:r>
              <a:rPr sz="1300" b="1">
                <a:solidFill>
                  <a:srgbClr val="8F3A26"/>
                </a:solidFill>
              </a:rPr>
              <a:t>지금 사시는 것은 매출이 아니라 "제거된 기술 리스크"입니다. 보통 시드 단계에서 투자자는 (1) 만들 수 있는가 (2) 팔리는가 — 두 가지 리스크를 함께 삽니다. (1)은 이미 제거됐습니다. 6종 정부 원장이 적재돼 있고, 사업자번호로 조인되고, 결제가 붙어 있고,</a:t>
            </a:r>
          </a:p>
          <a:p>
            <a:r>
              <a:rPr sz="1300" b="1">
                <a:solidFill>
                  <a:srgbClr val="8F3A26"/>
                </a:solidFill>
              </a:rPr>
              <a:t>남은 건 (2) 하나입니다. 한 개의 리스크만 남은 딜이고, 그 하나를 12주 안에 판정하겠다는 게 제안입니다.</a:t>
            </a:r>
          </a:p>
          <a:p>
            <a:r>
              <a:rPr sz="1400">
                <a:solidFill>
                  <a:srgbClr val="334155"/>
                </a:solidFill>
              </a:rPr>
              <a:t>Q2. 그럼 왜 아직 아무한테도 안 팔아봤나? 그게 더 이상하지 않나?</a:t>
            </a:r>
          </a:p>
          <a:p>
            <a:r>
              <a:rPr sz="1300" b="1">
                <a:solidFill>
                  <a:srgbClr val="8F3A26"/>
                </a:solidFill>
              </a:rPr>
              <a:t>타당한 지적이고, 이것이 제 가장 큰 실수입니다. 변명하지 않겠습니다.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1B2A"/>
                </a:solidFill>
              </a:rPr>
              <a:t>부록 B — 확보 필요 항목 (빈칸으로 남김 · 지어내지 않음)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</a:rPr>
              <a:t>• [ ] 사업자등록번호 / 법인등기 — 미등록</a:t>
            </a:r>
          </a:p>
          <a:p>
            <a:r>
              <a:rPr sz="1400">
                <a:solidFill>
                  <a:srgbClr val="334155"/>
                </a:solidFill>
              </a:rPr>
              <a:t>• [ ] 재직회사 겸직 동의 또는 퇴직 계획 — 미확보 (계획으로만 서술)</a:t>
            </a:r>
          </a:p>
          <a:p>
            <a:r>
              <a:rPr sz="1400">
                <a:solidFill>
                  <a:srgbClr val="334155"/>
                </a:solidFill>
              </a:rPr>
              <a:t>• [ ] 특허 · 상표 출원 — 현재 출원 없음</a:t>
            </a:r>
          </a:p>
          <a:p>
            <a:r>
              <a:rPr sz="1400">
                <a:solidFill>
                  <a:srgbClr val="334155"/>
                </a:solidFill>
              </a:rPr>
              <a:t>• [ ] 팀원 — 현재 1인</a:t>
            </a:r>
          </a:p>
          <a:p>
            <a:r>
              <a:rPr sz="1400">
                <a:solidFill>
                  <a:srgbClr val="334155"/>
                </a:solidFill>
              </a:rPr>
              <a:t>• [ ] 고객 인터뷰 결과 — 0건</a:t>
            </a:r>
          </a:p>
          <a:p>
            <a:r>
              <a:rPr sz="1400">
                <a:solidFill>
                  <a:srgbClr val="334155"/>
                </a:solidFill>
              </a:rPr>
              <a:t>• [ ] 유료 전환 실적 — 0건</a:t>
            </a:r>
          </a:p>
          <a:p>
            <a:r>
              <a:rPr sz="1400">
                <a:solidFill>
                  <a:srgbClr val="334155"/>
                </a:solidFill>
              </a:rPr>
              <a:t>• [ ] 매출 실적 — 0원</a:t>
            </a:r>
          </a:p>
          <a:p>
            <a:r>
              <a:rPr sz="1400">
                <a:solidFill>
                  <a:srgbClr val="334155"/>
                </a:solidFill>
              </a:rPr>
              <a:t>• [ ] 투자 유치 목표 금액 — 【금액 미정】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